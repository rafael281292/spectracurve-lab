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SpectraCurve Lab, uma aplicação que digitaliza curvas científicas presentes em imagens, reconstrói os dados e usa IA generativa local para interpretar resultados. O ponto principal é que o modelo não inventa os cálculos: ele consulta funções Python determinísticas.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é que muitos dados são publicados apenas como figuras. Nesta imagem de teste existem três curvas azuis com tonalidades próximas. A aplicação cria uma máscara CIELAB para cada cor e armazena nome, ordem, RGB e HEX, preservando a identidade das curvas.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teste automático, as três curvas foram extraídas com cobertura entre 96,9% e 98,8%. Os máximos principais foram 687,5, 702,0 e 730,1 nanômetros, mostrando o deslocamento progressivo para maiores comprimentos de onda. As máscaras não se sobrepuseram.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Escolhi Ollama com qwen3:1.7b porque não exige API paga, preserva privacidade e suporta tool calling. Usei o SDK oficial diretamente, sem LangChain, porque existe apenas um agente e sete ferramentas. A temperatura padrão é 0.2 e o top-p é 0.9 para priorizar estabilidade.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system prompt usa tags XML, few-shot e regras contra invenção. As tools listam curvas, resolvem uma referência por cor ou ordem, retornam resumos, picos, comparações e qualidade. Se o modelo ignorar as tools, a aplicação injeta um contexto determinístico e registra o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Foram aprovados oito testes automatizados, incluindo a imagem real. As principais limitações são os pontos pretos, que se confundem com eixos e textos, e a menor capacidade de modelos locais pequenos. Como próximo passo, eu adicionaria detecção específica de marcadores e uma biblioteca espectral validada.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288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SpectraCurve Lab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686800" y="652881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 Final — IA Generativa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"/>
            <a:ext cx="4892040" cy="640080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804672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SpectraCurve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35915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AF4"/>
                </a:solidFill>
              </a:rPr>
              <a:t>Digitalização multicolor e interpretação com IA generativa local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3840480"/>
            <a:ext cx="3246120" cy="329184"/>
          </a:xfrm>
          <a:prstGeom prst="roundRect">
            <a:avLst>
              <a:gd name="adj" fmla="val 16667"/>
            </a:avLst>
          </a:prstGeom>
          <a:solidFill>
            <a:srgbClr val="183E58"/>
          </a:solidFill>
          <a:ln w="12700">
            <a:solidFill>
              <a:srgbClr val="5DACE2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3909060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ACE2"/>
                </a:solidFill>
              </a:rPr>
              <a:t>Ollama + Qwen3 + Tool Calling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3504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Rafael de Oliveira Lima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" y="5193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3E2"/>
                </a:solidFill>
              </a:rPr>
              <a:t>Avaliação Final — IA Generativa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85232" y="594360"/>
            <a:ext cx="635508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mnt/data/spectracurve-final-work/spectracurve-lab/examples/Fig3-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3962" y="822960"/>
            <a:ext cx="5877620" cy="46177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0" y="5468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6273"/>
                </a:solidFill>
              </a:rPr>
              <a:t>Imagem multicolor utilizada na validação automática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gráfico em imagem à análise rastreável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</a:rPr>
              <a:t>A solução separa visão computacional, cálculo científico e linguagem natural.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1400000000"/>
              </a:srgbClr>
            </a:outerShdw>
          </a:effectLst>
        </p:spPr>
      </p:sp>
      <p:pic>
        <p:nvPicPr>
          <p:cNvPr id="5" name="Image 0" descr="/mnt/data/spectracurve-final-work/spectracurve-lab/docs/images/multicolor_m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45" y="1536192"/>
            <a:ext cx="4104895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4919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44D"/>
                </a:solidFill>
              </a:rPr>
              <a:t>Máscaras CIELAB independentes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52669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273"/>
                </a:solidFill>
              </a:rPr>
              <a:t>Cada pixel pertence à cor selecionada mais próxima; nome, RGB e HEX permanecem associados.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40680" y="1353312"/>
            <a:ext cx="5989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05272" y="1472184"/>
            <a:ext cx="475488" cy="47548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05272" y="16002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27064" y="151790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</a:rPr>
              <a:t>Imagem + calibração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439912" y="2066544"/>
            <a:ext cx="0" cy="137160"/>
          </a:xfrm>
          <a:prstGeom prst="line">
            <a:avLst/>
          </a:prstGeom>
          <a:noFill/>
          <a:ln w="25400">
            <a:solidFill>
              <a:srgbClr val="91A9BA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440680" y="2231136"/>
            <a:ext cx="5989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05272" y="2350008"/>
            <a:ext cx="475488" cy="47548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05272" y="24780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27064" y="239572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</a:rPr>
              <a:t>Máscaras por cor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439912" y="2944368"/>
            <a:ext cx="0" cy="137160"/>
          </a:xfrm>
          <a:prstGeom prst="line">
            <a:avLst/>
          </a:prstGeom>
          <a:noFill/>
          <a:ln w="25400">
            <a:solidFill>
              <a:srgbClr val="91A9BA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440680" y="3108960"/>
            <a:ext cx="5989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05272" y="3227832"/>
            <a:ext cx="475488" cy="47548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05272" y="33558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27064" y="32735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</a:rPr>
              <a:t>Curvas x,y + picos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439912" y="3822192"/>
            <a:ext cx="0" cy="137160"/>
          </a:xfrm>
          <a:prstGeom prst="line">
            <a:avLst/>
          </a:prstGeom>
          <a:noFill/>
          <a:ln w="25400">
            <a:solidFill>
              <a:srgbClr val="91A9BA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440680" y="3986784"/>
            <a:ext cx="5989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05272" y="4105656"/>
            <a:ext cx="475488" cy="47548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05272" y="423367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27064" y="415137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</a:rPr>
              <a:t>Tools determinísticas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439912" y="4700016"/>
            <a:ext cx="0" cy="137160"/>
          </a:xfrm>
          <a:prstGeom prst="line">
            <a:avLst/>
          </a:prstGeom>
          <a:noFill/>
          <a:ln w="25400">
            <a:solidFill>
              <a:srgbClr val="91A9BA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440680" y="4864608"/>
            <a:ext cx="5989320" cy="713232"/>
          </a:xfrm>
          <a:prstGeom prst="roundRect">
            <a:avLst>
              <a:gd name="adj" fmla="val 10256"/>
            </a:avLst>
          </a:prstGeom>
          <a:solidFill>
            <a:srgbClr val="EAF5F1"/>
          </a:solidFill>
          <a:ln w="12700">
            <a:solidFill>
              <a:srgbClr val="9ED5C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05272" y="4983480"/>
            <a:ext cx="475488" cy="475488"/>
          </a:xfrm>
          <a:prstGeom prst="ellipse">
            <a:avLst/>
          </a:prstGeom>
          <a:solidFill>
            <a:srgbClr val="138A62"/>
          </a:solidFill>
          <a:ln w="12700">
            <a:solidFill>
              <a:srgbClr val="138A6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05272" y="511149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27064" y="5029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</a:rPr>
              <a:t>Resposta do Ollama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492240" y="587959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77B4"/>
                </a:solidFill>
              </a:rPr>
              <a:t>O LLM interpreta; Python mede.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 real: três curvas recuperadas sem sobreposição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</a:rPr>
              <a:t>Resultados automáticos obtidos a partir da imagem fornecida.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74523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140000000000000"/>
              </a:srgbClr>
            </a:outerShdw>
          </a:effectLst>
        </p:spPr>
      </p:sp>
      <p:pic>
        <p:nvPicPr>
          <p:cNvPr id="5" name="Image 0" descr="/mnt/data/spectracurve-final-work/spectracurve-lab/docs/images/picos_detecta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50844"/>
            <a:ext cx="7022592" cy="38489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344168"/>
            <a:ext cx="340156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75904" y="1508760"/>
            <a:ext cx="201168" cy="694944"/>
          </a:xfrm>
          <a:prstGeom prst="roundRect">
            <a:avLst>
              <a:gd name="adj" fmla="val 18182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05088" y="14996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4D"/>
                </a:solidFill>
              </a:rPr>
              <a:t>Y6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705088" y="18196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8A62"/>
                </a:solidFill>
              </a:rPr>
              <a:t>Cobertura  98,31%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076688" y="18196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202A"/>
                </a:solidFill>
              </a:rPr>
              <a:t>Máximo  687,47 nm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0" y="2606040"/>
            <a:ext cx="340156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75904" y="2770632"/>
            <a:ext cx="201168" cy="694944"/>
          </a:xfrm>
          <a:prstGeom prst="roundRect">
            <a:avLst>
              <a:gd name="adj" fmla="val 18182"/>
            </a:avLst>
          </a:prstGeom>
          <a:solidFill>
            <a:srgbClr val="5DACE2"/>
          </a:solidFill>
          <a:ln w="12700">
            <a:solidFill>
              <a:srgbClr val="5DAC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05088" y="27614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4D"/>
                </a:solidFill>
              </a:rPr>
              <a:t>Y6-2Se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705088" y="3081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8A62"/>
                </a:solidFill>
              </a:rPr>
              <a:t>Cobertura  96,91%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0076688" y="3081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202A"/>
                </a:solidFill>
              </a:rPr>
              <a:t>Máximo  701,97 nm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0" y="3867912"/>
            <a:ext cx="340156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75904" y="4032504"/>
            <a:ext cx="201168" cy="694944"/>
          </a:xfrm>
          <a:prstGeom prst="roundRect">
            <a:avLst>
              <a:gd name="adj" fmla="val 18182"/>
            </a:avLst>
          </a:prstGeom>
          <a:solidFill>
            <a:srgbClr val="174360"/>
          </a:solidFill>
          <a:ln w="12700">
            <a:solidFill>
              <a:srgbClr val="1743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05088" y="4023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4D"/>
                </a:solidFill>
              </a:rPr>
              <a:t>Y6-2Te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705088" y="43434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8A62"/>
                </a:solidFill>
              </a:rPr>
              <a:t>Cobertura  98,78%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076688" y="43434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202A"/>
                </a:solidFill>
              </a:rPr>
              <a:t>Máximo  730,09 nm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229600" y="5166360"/>
            <a:ext cx="3401568" cy="777240"/>
          </a:xfrm>
          <a:prstGeom prst="roundRect">
            <a:avLst>
              <a:gd name="adj" fmla="val 9412"/>
            </a:avLst>
          </a:prstGeom>
          <a:solidFill>
            <a:srgbClr val="EDF7F3"/>
          </a:solidFill>
          <a:ln w="12700">
            <a:solidFill>
              <a:srgbClr val="B5DE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30768" y="534009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8A62"/>
                </a:solidFill>
              </a:rPr>
              <a:t>✓ 3 máscaras independentes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38A62"/>
                </a:solidFill>
              </a:rPr>
              <a:t>✓ qualidade “Alta” em todas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51560" y="5760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7B4"/>
                </a:solidFill>
              </a:rPr>
              <a:t>Deslocamento para o vermelho:  Y6  &lt;  Y6-2Se  &lt;  Y6-2Te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Decisões de engenharia de LLM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</a:rPr>
              <a:t>Escolhas deliberadas para equilibrar custo, transparência e qualidade.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401568" cy="452628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14000000000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09928"/>
            <a:ext cx="658368" cy="65836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9019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81912" y="17556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4D"/>
                </a:solidFill>
              </a:rPr>
              <a:t>Modelo e provedor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274320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</a:rPr>
              <a:t>Ollama local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</a:rPr>
              <a:t>qwen3:1.7b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</a:rPr>
              <a:t>Sem chave ou cobrança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</a:rPr>
              <a:t>Privacidade local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96512" y="1417320"/>
            <a:ext cx="3401568" cy="452628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1.4e+2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1709928"/>
            <a:ext cx="658368" cy="658368"/>
          </a:xfrm>
          <a:prstGeom prst="ellipse">
            <a:avLst/>
          </a:prstGeom>
          <a:solidFill>
            <a:srgbClr val="174360"/>
          </a:solidFill>
          <a:ln w="12700">
            <a:solidFill>
              <a:srgbClr val="1743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19019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75504" y="17556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4D"/>
                </a:solidFill>
              </a:rPr>
              <a:t>Framework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16552" y="2606040"/>
            <a:ext cx="274320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</a:rPr>
              <a:t>SDK oficial direto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</a:rPr>
              <a:t>1 agente + 7 tools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</a:rPr>
              <a:t>Sem LangChain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</a:rPr>
              <a:t>Loop explícito e depurável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90104" y="1417320"/>
            <a:ext cx="3401568" cy="452628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1.4000000000000002e+2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46136" y="1709928"/>
            <a:ext cx="658368" cy="658368"/>
          </a:xfrm>
          <a:prstGeom prst="ellipse">
            <a:avLst/>
          </a:prstGeom>
          <a:solidFill>
            <a:srgbClr val="138A62"/>
          </a:solidFill>
          <a:ln w="12700">
            <a:solidFill>
              <a:srgbClr val="138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6136" y="19019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69096" y="17556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4D"/>
                </a:solidFill>
              </a:rPr>
              <a:t>Parâmetros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10144" y="2606040"/>
            <a:ext cx="274320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</a:rPr>
              <a:t>temperatura = 0.2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</a:rPr>
              <a:t>top_p = 0.9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</a:rPr>
              <a:t>num_ctx = 4096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</a:rPr>
              <a:t>máximo = 4 rodadas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6144768"/>
            <a:ext cx="9966960" cy="347472"/>
          </a:xfrm>
          <a:prstGeom prst="roundRect">
            <a:avLst>
              <a:gd name="adj" fmla="val 21053"/>
            </a:avLst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6236208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Trade-off central: menor capacidade que APIs premium, mas custo previsível, privacidade e arquitetura auditável.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Prompting, tools e proteção contra alucinação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</a:rPr>
              <a:t>O modelo é obrigado a fundamentar a resposta em resultados estruturados.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800600" cy="4526280"/>
          </a:xfrm>
          <a:prstGeom prst="roundRect">
            <a:avLst>
              <a:gd name="adj" fmla="val 1616"/>
            </a:avLst>
          </a:prstGeom>
          <a:solidFill>
            <a:srgbClr val="102D42"/>
          </a:solidFill>
          <a:ln w="12700">
            <a:solidFill>
              <a:srgbClr val="102D42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1.4000000000000003e+3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5C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&lt;source_of_truth&gt;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057400"/>
            <a:ext cx="40690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consulte tools antes de afirmar números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nunca invente picos, áreas ou identidades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preserve nome + RGB + HEX + ordem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 faltar evidência, declare a limitação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069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5C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&lt;/source_of_truth&gt;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47731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Tags XML + few-shot + input delimitado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523036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3C2630"/>
          </a:solidFill>
          <a:ln w="12700">
            <a:solidFill>
              <a:srgbClr val="D67E7E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52989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7E7E"/>
                </a:solidFill>
              </a:rPr>
              <a:t>Prompt injection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5230368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173C35"/>
          </a:solidFill>
          <a:ln w="12700">
            <a:solidFill>
              <a:srgbClr val="91D8BE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5298948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1D8BE"/>
                </a:solidFill>
              </a:rPr>
              <a:t>Fallback determinístico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715000" y="13898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44D"/>
                </a:solidFill>
              </a:rPr>
              <a:t>7 tools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715000" y="1874520"/>
            <a:ext cx="2670048" cy="329184"/>
          </a:xfrm>
          <a:prstGeom prst="roundRect">
            <a:avLst>
              <a:gd name="adj" fmla="val 16667"/>
            </a:avLst>
          </a:prstGeom>
          <a:solidFill>
            <a:srgbClr val="EAF3FA"/>
          </a:solidFill>
          <a:ln w="12700">
            <a:solidFill>
              <a:srgbClr val="1F77B4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88152" y="194310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7B4"/>
                </a:solidFill>
              </a:rPr>
              <a:t>get_analysis_context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41080" y="1874520"/>
            <a:ext cx="2670048" cy="329184"/>
          </a:xfrm>
          <a:prstGeom prst="roundRect">
            <a:avLst>
              <a:gd name="adj" fmla="val 16667"/>
            </a:avLst>
          </a:prstGeom>
          <a:solidFill>
            <a:srgbClr val="E9EFF3"/>
          </a:solidFill>
          <a:ln w="12700">
            <a:solidFill>
              <a:srgbClr val="174360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14232" y="194310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4360"/>
                </a:solidFill>
              </a:rPr>
              <a:t>list_detected_curves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15000" y="2569464"/>
            <a:ext cx="2670048" cy="329184"/>
          </a:xfrm>
          <a:prstGeom prst="roundRect">
            <a:avLst>
              <a:gd name="adj" fmla="val 16667"/>
            </a:avLst>
          </a:prstGeom>
          <a:solidFill>
            <a:srgbClr val="EAF3FA"/>
          </a:solidFill>
          <a:ln w="12700">
            <a:solidFill>
              <a:srgbClr val="1F77B4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88152" y="2638044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7B4"/>
                </a:solidFill>
              </a:rPr>
              <a:t>get_curve_by_color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641080" y="2569464"/>
            <a:ext cx="2670048" cy="329184"/>
          </a:xfrm>
          <a:prstGeom prst="roundRect">
            <a:avLst>
              <a:gd name="adj" fmla="val 16667"/>
            </a:avLst>
          </a:prstGeom>
          <a:solidFill>
            <a:srgbClr val="E9EFF3"/>
          </a:solidFill>
          <a:ln w="12700">
            <a:solidFill>
              <a:srgbClr val="174360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14232" y="2638044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4360"/>
                </a:solidFill>
              </a:rPr>
              <a:t>get_curve_summary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15000" y="3264408"/>
            <a:ext cx="2670048" cy="329184"/>
          </a:xfrm>
          <a:prstGeom prst="roundRect">
            <a:avLst>
              <a:gd name="adj" fmla="val 16667"/>
            </a:avLst>
          </a:prstGeom>
          <a:solidFill>
            <a:srgbClr val="EAF3FA"/>
          </a:solidFill>
          <a:ln w="12700">
            <a:solidFill>
              <a:srgbClr val="1F77B4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88152" y="3332988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7B4"/>
                </a:solidFill>
              </a:rPr>
              <a:t>get_detected_peaks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41080" y="3264408"/>
            <a:ext cx="2670048" cy="329184"/>
          </a:xfrm>
          <a:prstGeom prst="roundRect">
            <a:avLst>
              <a:gd name="adj" fmla="val 16667"/>
            </a:avLst>
          </a:prstGeom>
          <a:solidFill>
            <a:srgbClr val="E9EFF3"/>
          </a:solidFill>
          <a:ln w="12700">
            <a:solidFill>
              <a:srgbClr val="174360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14232" y="3332988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4360"/>
                </a:solidFill>
              </a:rPr>
              <a:t>compare_curves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15000" y="3959352"/>
            <a:ext cx="2670048" cy="329184"/>
          </a:xfrm>
          <a:prstGeom prst="roundRect">
            <a:avLst>
              <a:gd name="adj" fmla="val 16667"/>
            </a:avLst>
          </a:prstGeom>
          <a:solidFill>
            <a:srgbClr val="EAF3FA"/>
          </a:solidFill>
          <a:ln w="12700">
            <a:solidFill>
              <a:srgbClr val="1F77B4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402793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7B4"/>
                </a:solidFill>
              </a:rPr>
              <a:t>get_extraction_quality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15000" y="4828032"/>
            <a:ext cx="5943600" cy="1005840"/>
          </a:xfrm>
          <a:prstGeom prst="roundRect">
            <a:avLst>
              <a:gd name="adj" fmla="val 7273"/>
            </a:avLst>
          </a:prstGeom>
          <a:solidFill>
            <a:srgbClr val="FFF8E9"/>
          </a:solidFill>
          <a:ln w="12700">
            <a:solidFill>
              <a:srgbClr val="E6C9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5084064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6E00"/>
                </a:solidFill>
              </a:rPr>
              <a:t>Se o modelo não chama uma tool, a aplicação executa get_analysis_context e registra application_fallback.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Validação, limitações e próximos passos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</a:rPr>
              <a:t>O protótipo está funcional; as limitações estão explicitadas e testadas.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063240" cy="1874520"/>
          </a:xfrm>
          <a:prstGeom prst="roundRect">
            <a:avLst>
              <a:gd name="adj" fmla="val 3902"/>
            </a:avLst>
          </a:prstGeom>
          <a:solidFill>
            <a:srgbClr val="EDF7F3"/>
          </a:solidFill>
          <a:ln w="12700">
            <a:solidFill>
              <a:srgbClr val="B5DEC9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1.4000000000000003e+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581912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38A62"/>
                </a:solidFill>
              </a:rPr>
              <a:t>8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572768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4D"/>
                </a:solidFill>
              </a:rPr>
              <a:t>testes aprovados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273"/>
                </a:solidFill>
              </a:rPr>
              <a:t>unitários + integração com a imagem real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493008"/>
            <a:ext cx="3063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1.4000000000000002e+4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8A62"/>
                </a:solidFill>
              </a:rPr>
              <a:t>O que funcionou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9808" y="4160520"/>
            <a:ext cx="24231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02A"/>
                </a:solidFill>
              </a:rPr>
              <a:t>3 curvas separadas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02A"/>
                </a:solidFill>
              </a:rPr>
              <a:t>96,9–98,8% de cobertura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02A"/>
                </a:solidFill>
              </a:rPr>
              <a:t>RGB/HEX preservados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02A"/>
                </a:solidFill>
              </a:rPr>
              <a:t>picos em ordem coerente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67912" y="1325880"/>
            <a:ext cx="3703320" cy="4407408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1.4000000000000002e+49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6052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3A3A"/>
                </a:solidFill>
              </a:rPr>
              <a:t>Limitações atuais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33088" y="2103120"/>
            <a:ext cx="306324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02A"/>
                </a:solidFill>
              </a:rPr>
              <a:t>pontos pretos se confundem com eixos e textos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02A"/>
                </a:solidFill>
              </a:rPr>
              <a:t>cores muito próximas exigem ajuste de tolerância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02A"/>
                </a:solidFill>
              </a:rPr>
              <a:t>mesma cor requer rastreamento geométrico avançado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02A"/>
                </a:solidFill>
              </a:rPr>
              <a:t>modelos locais pequenos podem ignorar tools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02A"/>
                </a:solidFill>
              </a:rPr>
              <a:t>sem biblioteca espectral, atribuições são hipóteses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91272" y="1325880"/>
            <a:ext cx="3794760" cy="4407408"/>
          </a:xfrm>
          <a:prstGeom prst="roundRect">
            <a:avLst>
              <a:gd name="adj" fmla="val 1928"/>
            </a:avLst>
          </a:prstGeom>
          <a:solidFill>
            <a:srgbClr val="EEF4F8"/>
          </a:solidFill>
          <a:ln w="12700">
            <a:solidFill>
              <a:srgbClr val="C5D6E2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1.4e+54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3880" y="1627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7B4"/>
                </a:solidFill>
              </a:rPr>
              <a:t>Próximos passos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83880" y="2176272"/>
            <a:ext cx="475488" cy="47548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313432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51392" y="22219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4D"/>
                </a:solidFill>
              </a:rPr>
              <a:t>Detector específico de marcadores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83880" y="3090672"/>
            <a:ext cx="475488" cy="47548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3227832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51392" y="31363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4D"/>
                </a:solidFill>
              </a:rPr>
              <a:t>RAG com biblioteca espectral validada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183880" y="4005072"/>
            <a:ext cx="475488" cy="47548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4142232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51392" y="40507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4D"/>
                </a:solidFill>
              </a:rPr>
              <a:t>Benchmark local de modelos e parâmetros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183880" y="4956048"/>
            <a:ext cx="3154680" cy="475488"/>
          </a:xfrm>
          <a:prstGeom prst="roundRect">
            <a:avLst>
              <a:gd name="adj" fmla="val 11538"/>
            </a:avLst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510235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Cálculo confiável. IA explicável.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56048" y="60533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44D"/>
                </a:solidFill>
              </a:rPr>
              <a:t>Obrigado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Curso de IA Generativa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SpectraCurve Lab — IA generativa local para análise espectral</dc:title>
  <dc:subject>Avaliação Final — IA Generativa</dc:subject>
  <dc:creator>Rafael de Oliveira Lima</dc:creator>
  <cp:lastModifiedBy>Rafael de Oliveira Lima</cp:lastModifiedBy>
  <cp:revision>1</cp:revision>
  <dcterms:created xsi:type="dcterms:W3CDTF">2026-07-16T13:43:19Z</dcterms:created>
  <dcterms:modified xsi:type="dcterms:W3CDTF">2026-07-16T13:43:19Z</dcterms:modified>
</cp:coreProperties>
</file>